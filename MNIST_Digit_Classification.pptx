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0515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000" b="1">
                <a:solidFill>
                  <a:srgbClr val="1822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664208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900" b="1">
                <a:solidFill>
                  <a:srgbClr val="2A5BD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HANDWRITTEN DIGIT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331720"/>
            <a:ext cx="8686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434C5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Neural Network  •  TensorFlow / Keras  •  Python  • 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273552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70788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Executed notebook based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507492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822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Priyanka Gunjal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Actual notebook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82495"/>
            <a:ext cx="2130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1965960"/>
            <a:ext cx="21305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60,000 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682495"/>
            <a:ext cx="2130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965960"/>
            <a:ext cx="21305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10,000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544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682495"/>
            <a:ext cx="2130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965960"/>
            <a:ext cx="21305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28 × 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55448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1682495"/>
            <a:ext cx="21305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965960"/>
            <a:ext cx="21305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Target: handwritten digits 0–9.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Images are grayscale and normalized before training.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Workflow: Load → Normalize → Build → Train → Evaluate → Predict.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Custom handwritten prediction is demonstrated using 3-digit.PNG.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MNIST loading and first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0" cy="333756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5998464" cy="3081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from keras.datasets import mnist</a:t>
            </a:r>
            <a:br/>
            <a:br/>
            <a:r>
              <a:t>(X_train, Y_train), (X_test, Y_test) = mnist.load_data()</a:t>
            </a:r>
            <a:br/>
            <a:br/>
            <a:r>
              <a:t>plt.imshow(X_train[25], cmap='gray')</a:t>
            </a:r>
            <a:br/>
            <a:r>
              <a:t>plt.show()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55448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7224" y="1682495"/>
            <a:ext cx="158191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TRAINING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7224" y="1965960"/>
            <a:ext cx="158191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60,000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55448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1682495"/>
            <a:ext cx="158191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TEST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4624" y="1965960"/>
            <a:ext cx="158191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971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7224" y="3099816"/>
            <a:ext cx="158191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IMAGE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3383280"/>
            <a:ext cx="158191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28 × 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97180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3099816"/>
            <a:ext cx="158191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3383280"/>
            <a:ext cx="158191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0–9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572000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82234"/>
                </a:solidFill>
                <a:latin typeface="Aptos"/>
              </a:defRPr>
            </a:pPr>
            <a:r>
              <a:t>Sample visualization: X_train[25]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Dataset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Shape and image representation used by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577840" cy="365760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5175503" cy="3401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onsolas"/>
              </a:defRPr>
            </a:pPr>
            <a:r>
              <a:t>X_train.shape</a:t>
            </a:r>
            <a:br/>
            <a:r>
              <a:t>(60000, 28, 28)</a:t>
            </a:r>
            <a:br/>
            <a:br/>
            <a:r>
              <a:t>X_test.shape</a:t>
            </a:r>
            <a:br/>
            <a:r>
              <a:t>(10000, 28, 28)</a:t>
            </a:r>
            <a:br/>
            <a:br/>
            <a:r>
              <a:t># grayscale image</a:t>
            </a:r>
            <a:br/>
            <a:r>
              <a:t># 28 × 28 pixels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554480"/>
            <a:ext cx="4297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828800"/>
            <a:ext cx="37490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A5BD7"/>
                </a:solidFill>
                <a:latin typeface="Aptos"/>
              </a:defRPr>
            </a:pPr>
            <a:r>
              <a:t>28 ×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514600"/>
            <a:ext cx="283464" cy="164592"/>
          </a:xfrm>
          <a:prstGeom prst="rect">
            <a:avLst/>
          </a:prstGeom>
          <a:solidFill>
            <a:srgbClr val="EBEEF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99832" y="2514600"/>
            <a:ext cx="283464" cy="164592"/>
          </a:xfrm>
          <a:prstGeom prst="rect">
            <a:avLst/>
          </a:prstGeom>
          <a:solidFill>
            <a:srgbClr val="E9ECF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47304" y="2514600"/>
            <a:ext cx="283464" cy="164592"/>
          </a:xfrm>
          <a:prstGeom prst="rect">
            <a:avLst/>
          </a:prstGeom>
          <a:solidFill>
            <a:srgbClr val="E7EAF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94776" y="2514600"/>
            <a:ext cx="283464" cy="164592"/>
          </a:xfrm>
          <a:prstGeom prst="rect">
            <a:avLst/>
          </a:prstGeom>
          <a:solidFill>
            <a:srgbClr val="E5E8E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2248" y="2514600"/>
            <a:ext cx="283464" cy="164592"/>
          </a:xfrm>
          <a:prstGeom prst="rect">
            <a:avLst/>
          </a:prstGeom>
          <a:solidFill>
            <a:srgbClr val="E3E6E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20" y="25146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37192" y="25146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84664" y="25146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2743200"/>
            <a:ext cx="283464" cy="164592"/>
          </a:xfrm>
          <a:prstGeom prst="rect">
            <a:avLst/>
          </a:prstGeom>
          <a:solidFill>
            <a:srgbClr val="E9ECF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9832" y="2743200"/>
            <a:ext cx="283464" cy="164592"/>
          </a:xfrm>
          <a:prstGeom prst="rect">
            <a:avLst/>
          </a:prstGeom>
          <a:solidFill>
            <a:srgbClr val="E7EAF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2743200"/>
            <a:ext cx="283464" cy="164592"/>
          </a:xfrm>
          <a:prstGeom prst="rect">
            <a:avLst/>
          </a:prstGeom>
          <a:solidFill>
            <a:srgbClr val="E5E8E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4776" y="2743200"/>
            <a:ext cx="283464" cy="164592"/>
          </a:xfrm>
          <a:prstGeom prst="rect">
            <a:avLst/>
          </a:prstGeom>
          <a:solidFill>
            <a:srgbClr val="E3E6E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42248" y="27432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27432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37192" y="27432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84664" y="27432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2971800"/>
            <a:ext cx="283464" cy="164592"/>
          </a:xfrm>
          <a:prstGeom prst="rect">
            <a:avLst/>
          </a:prstGeom>
          <a:solidFill>
            <a:srgbClr val="E7EAF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9832" y="2971800"/>
            <a:ext cx="283464" cy="164592"/>
          </a:xfrm>
          <a:prstGeom prst="rect">
            <a:avLst/>
          </a:prstGeom>
          <a:solidFill>
            <a:srgbClr val="E5E8E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47304" y="2971800"/>
            <a:ext cx="283464" cy="164592"/>
          </a:xfrm>
          <a:prstGeom prst="rect">
            <a:avLst/>
          </a:prstGeom>
          <a:solidFill>
            <a:srgbClr val="E3E6E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94776" y="29718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42248" y="29718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29718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7192" y="29718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84664" y="29718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3200400"/>
            <a:ext cx="283464" cy="164592"/>
          </a:xfrm>
          <a:prstGeom prst="rect">
            <a:avLst/>
          </a:prstGeom>
          <a:solidFill>
            <a:srgbClr val="E5E8E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9832" y="3200400"/>
            <a:ext cx="283464" cy="164592"/>
          </a:xfrm>
          <a:prstGeom prst="rect">
            <a:avLst/>
          </a:prstGeom>
          <a:solidFill>
            <a:srgbClr val="E3E6E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47304" y="32004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94776" y="32004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42248" y="32004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32004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37192" y="32004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84664" y="3200400"/>
            <a:ext cx="283464" cy="164592"/>
          </a:xfrm>
          <a:prstGeom prst="rect">
            <a:avLst/>
          </a:prstGeom>
          <a:solidFill>
            <a:srgbClr val="D7DAE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0" y="3429000"/>
            <a:ext cx="283464" cy="164592"/>
          </a:xfrm>
          <a:prstGeom prst="rect">
            <a:avLst/>
          </a:prstGeom>
          <a:solidFill>
            <a:srgbClr val="E3E6E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9832" y="34290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47304" y="34290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94776" y="34290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42248" y="34290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34290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37192" y="3429000"/>
            <a:ext cx="283464" cy="164592"/>
          </a:xfrm>
          <a:prstGeom prst="rect">
            <a:avLst/>
          </a:prstGeom>
          <a:solidFill>
            <a:srgbClr val="D7DAE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84664" y="3429000"/>
            <a:ext cx="283464" cy="164592"/>
          </a:xfrm>
          <a:prstGeom prst="rect">
            <a:avLst/>
          </a:prstGeom>
          <a:solidFill>
            <a:srgbClr val="D5D8D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2360" y="3657600"/>
            <a:ext cx="283464" cy="164592"/>
          </a:xfrm>
          <a:prstGeom prst="rect">
            <a:avLst/>
          </a:prstGeom>
          <a:solidFill>
            <a:srgbClr val="E1E4E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9832" y="36576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47304" y="36576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94776" y="36576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42248" y="36576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9720" y="3657600"/>
            <a:ext cx="283464" cy="164592"/>
          </a:xfrm>
          <a:prstGeom prst="rect">
            <a:avLst/>
          </a:prstGeom>
          <a:solidFill>
            <a:srgbClr val="D7DAE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37192" y="3657600"/>
            <a:ext cx="283464" cy="164592"/>
          </a:xfrm>
          <a:prstGeom prst="rect">
            <a:avLst/>
          </a:prstGeom>
          <a:solidFill>
            <a:srgbClr val="D5D8D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84664" y="3657600"/>
            <a:ext cx="283464" cy="164592"/>
          </a:xfrm>
          <a:prstGeom prst="rect">
            <a:avLst/>
          </a:prstGeom>
          <a:solidFill>
            <a:srgbClr val="D3D6D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52360" y="3886200"/>
            <a:ext cx="283464" cy="164592"/>
          </a:xfrm>
          <a:prstGeom prst="rect">
            <a:avLst/>
          </a:prstGeom>
          <a:solidFill>
            <a:srgbClr val="DFE2E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9832" y="38862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47304" y="38862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94776" y="38862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42248" y="3886200"/>
            <a:ext cx="283464" cy="164592"/>
          </a:xfrm>
          <a:prstGeom prst="rect">
            <a:avLst/>
          </a:prstGeom>
          <a:solidFill>
            <a:srgbClr val="D7DAE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89720" y="3886200"/>
            <a:ext cx="283464" cy="164592"/>
          </a:xfrm>
          <a:prstGeom prst="rect">
            <a:avLst/>
          </a:prstGeom>
          <a:solidFill>
            <a:srgbClr val="D5D8D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37192" y="3886200"/>
            <a:ext cx="283464" cy="164592"/>
          </a:xfrm>
          <a:prstGeom prst="rect">
            <a:avLst/>
          </a:prstGeom>
          <a:solidFill>
            <a:srgbClr val="D3D6D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84664" y="3886200"/>
            <a:ext cx="283464" cy="164592"/>
          </a:xfrm>
          <a:prstGeom prst="rect">
            <a:avLst/>
          </a:prstGeom>
          <a:solidFill>
            <a:srgbClr val="D1D4D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52360" y="4114800"/>
            <a:ext cx="283464" cy="164592"/>
          </a:xfrm>
          <a:prstGeom prst="rect">
            <a:avLst/>
          </a:prstGeom>
          <a:solidFill>
            <a:srgbClr val="DDE0E6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9832" y="4114800"/>
            <a:ext cx="283464" cy="164592"/>
          </a:xfrm>
          <a:prstGeom prst="rect">
            <a:avLst/>
          </a:prstGeom>
          <a:solidFill>
            <a:srgbClr val="DBDEE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47304" y="4114800"/>
            <a:ext cx="283464" cy="164592"/>
          </a:xfrm>
          <a:prstGeom prst="rect">
            <a:avLst/>
          </a:prstGeom>
          <a:solidFill>
            <a:srgbClr val="D9DCE2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94776" y="4114800"/>
            <a:ext cx="283464" cy="164592"/>
          </a:xfrm>
          <a:prstGeom prst="rect">
            <a:avLst/>
          </a:prstGeom>
          <a:solidFill>
            <a:srgbClr val="D7DAE0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42248" y="4114800"/>
            <a:ext cx="283464" cy="164592"/>
          </a:xfrm>
          <a:prstGeom prst="rect">
            <a:avLst/>
          </a:prstGeom>
          <a:solidFill>
            <a:srgbClr val="D5D8DE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89720" y="4114800"/>
            <a:ext cx="283464" cy="164592"/>
          </a:xfrm>
          <a:prstGeom prst="rect">
            <a:avLst/>
          </a:prstGeom>
          <a:solidFill>
            <a:srgbClr val="D3D6DC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37192" y="4114800"/>
            <a:ext cx="283464" cy="164592"/>
          </a:xfrm>
          <a:prstGeom prst="rect">
            <a:avLst/>
          </a:prstGeom>
          <a:solidFill>
            <a:srgbClr val="D1D4D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84664" y="4114800"/>
            <a:ext cx="283464" cy="164592"/>
          </a:xfrm>
          <a:prstGeom prst="rect">
            <a:avLst/>
          </a:prstGeom>
          <a:solidFill>
            <a:srgbClr val="CFD2D8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6600" y="452628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707886"/>
                </a:solidFill>
                <a:latin typeface="Aptos"/>
              </a:defRPr>
            </a:pPr>
            <a:r>
              <a:t>Conceptual view of the grayscale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Normalization applied before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669280" cy="205740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00784"/>
            <a:ext cx="5266944" cy="1801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Consolas"/>
              </a:defRPr>
            </a:pPr>
            <a:r>
              <a:t>X_train = X_train / 255</a:t>
            </a:r>
            <a:br/>
            <a:r>
              <a:t>X_test  = X_test / 255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6002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1464" y="1728216"/>
            <a:ext cx="167335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ORIGINAL PIXEL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2011680"/>
            <a:ext cx="167335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0–255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002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0304" y="1728216"/>
            <a:ext cx="167335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NORMALIZED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0304" y="2011680"/>
            <a:ext cx="167335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The notebook scales pixel values by dividing by 255.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This produces normalized image arrays for the neural network.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Labels remain the ten digit classes: 0 through 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Neural Network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Actual model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6537960" cy="429768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17904"/>
            <a:ext cx="6135624" cy="4041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model = keras.Sequential([</a:t>
            </a:r>
            <a:br/>
            <a:r>
              <a:t>    keras.layers.Flatten(input_shape=(28,28)),</a:t>
            </a:r>
            <a:br/>
            <a:r>
              <a:t>    keras.layers.Dense(50, activation='relu'),</a:t>
            </a:r>
            <a:br/>
            <a:r>
              <a:t>    keras.layers.Dense(50, activation='relu'),</a:t>
            </a:r>
            <a:br/>
            <a:r>
              <a:t>    keras.layers.Dense(10, activation='sigmoid')</a:t>
            </a:r>
            <a:br/>
            <a:r>
              <a:t>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1572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636776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192024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28×28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508760"/>
            <a:ext cx="1572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1636776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FLATTEN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8904" y="192024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784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834639"/>
            <a:ext cx="1572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962656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DENSE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24612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834639"/>
            <a:ext cx="1572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2962656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324612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157276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4288536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4572000"/>
            <a:ext cx="1280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25780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5BD7"/>
                </a:solidFill>
                <a:latin typeface="Aptos"/>
              </a:defRPr>
            </a:pPr>
            <a:r>
              <a:t>ReLU → ReLU → Sigmoid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Model 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Optimizer, loss function and accuracy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309360" cy="301752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5907024" cy="27614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Consolas"/>
              </a:defRPr>
            </a:pPr>
            <a:r>
              <a:t>model.compile(</a:t>
            </a:r>
            <a:br/>
            <a:r>
              <a:t>    optimizer='adam',</a:t>
            </a:r>
            <a:br/>
            <a:r>
              <a:t>    loss='sparse_categorical_crossentropy',</a:t>
            </a:r>
            <a:br/>
            <a:r>
              <a:t>    metrics=['accuracy']</a:t>
            </a:r>
            <a:br/>
            <a: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002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7282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OPTIMIZER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116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Adam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718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30998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33832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Sparse Categorical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434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44714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47548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Training configuration used in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6400800" cy="182880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00784"/>
            <a:ext cx="5998464" cy="1572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Consolas"/>
              </a:defRPr>
            </a:pPr>
            <a:r>
              <a:t>model.fit(X_train, Y_train, epochs=10)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5448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682495"/>
            <a:ext cx="1536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1965960"/>
            <a:ext cx="15361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55448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01784" y="1682495"/>
            <a:ext cx="1536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TRAINING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1784" y="1965960"/>
            <a:ext cx="15361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60,000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971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3099816"/>
            <a:ext cx="15361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TARGET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83280"/>
            <a:ext cx="15361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971800"/>
            <a:ext cx="1828800" cy="1143000"/>
          </a:xfrm>
          <a:prstGeom prst="roundRect">
            <a:avLst/>
          </a:prstGeom>
          <a:solidFill>
            <a:srgbClr val="EBF0FA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3172968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707886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502152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2234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Training was performed for 10 epochs.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The recorded run reached 98.9% training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Training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Recorded output from the executed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956816"/>
            <a:ext cx="28620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TRAINING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240280"/>
            <a:ext cx="28620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98.9%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9568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EPOCHS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2402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8288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8664" y="19568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22402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434C5B"/>
                </a:solidFill>
                <a:latin typeface="Aptos"/>
              </a:defRPr>
            </a:pPr>
            <a:r>
              <a:t>The value shown is the recorded training result from the completed notebook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Test-set evaluation and recorded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309360" cy="224028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5907024" cy="1984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Consolas"/>
              </a:defRPr>
            </a:pPr>
            <a:r>
              <a:t>loss, accuracy = model.evaluate(X_test, Y_test)</a:t>
            </a:r>
            <a:br/>
            <a:r>
              <a:t>print('Test Accuracy:', accuracy)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0020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98664" y="1728216"/>
            <a:ext cx="2542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2011680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97.1%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24612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98664" y="3374136"/>
            <a:ext cx="25420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8664" y="3657600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10,000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182234"/>
                </a:solidFill>
                <a:latin typeface="Aptos"/>
              </a:defRPr>
            </a:pPr>
            <a:r>
              <a:t>Recorded test accuracy: 97.1%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434C5B"/>
                </a:solidFill>
                <a:latin typeface="Aptos"/>
              </a:defRPr>
            </a:pPr>
            <a:r>
              <a:t>Evaluation is performed on the MNIST test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Class-wise analysis of actual vs predicted digits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400800" cy="452628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17904"/>
            <a:ext cx="5998464" cy="4270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FFFFFF"/>
                </a:solidFill>
                <a:latin typeface="Consolas"/>
              </a:defRPr>
            </a:pPr>
            <a:r>
              <a:t>from sklearn.metrics import confusion_matrix</a:t>
            </a:r>
            <a:br/>
            <a:r>
              <a:t>import seaborn as sns</a:t>
            </a:r>
            <a:br/>
            <a:br/>
            <a:r>
              <a:t>cm = confusion_matrix(Y_test, Y_pred)</a:t>
            </a:r>
            <a:br/>
            <a:r>
              <a:t>sns.heatmap(cm, annot=True, fmt='d', cmap='Blues')</a:t>
            </a:r>
            <a:br/>
            <a:r>
              <a:t>plt.xlabel('Predicted')</a:t>
            </a:r>
            <a:br/>
            <a:r>
              <a:t>plt.ylabel('Actual')</a:t>
            </a:r>
            <a:br/>
            <a:r>
              <a:t>plt.show()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0020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82234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65176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2A5BD7"/>
                </a:solidFill>
                <a:latin typeface="Aptos"/>
              </a:defRPr>
            </a:pPr>
            <a:r>
              <a:t>10 ×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3756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434C5B"/>
                </a:solidFill>
                <a:latin typeface="Aptos"/>
              </a:defRPr>
            </a:pPr>
            <a:r>
              <a:t>Actual  vs  Predicted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16052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707886"/>
                </a:solidFill>
                <a:latin typeface="Aptos"/>
              </a:defRPr>
            </a:pPr>
            <a:r>
              <a:t>The notebook output contains the full class-wise matrix.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Custom handwritten digit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OpenCV preprocessing + model prediction for 3-digit.PNG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675120" cy="4526280"/>
          </a:xfrm>
          <a:prstGeom prst="roundRect">
            <a:avLst/>
          </a:prstGeom>
          <a:solidFill>
            <a:srgbClr val="1E222A"/>
          </a:solidFill>
          <a:ln>
            <a:solidFill>
              <a:srgbClr val="3E4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17904"/>
            <a:ext cx="6272783" cy="4270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Consolas"/>
              </a:defRPr>
            </a:pPr>
            <a:r>
              <a:t>input_image = cv2.imread('/content/3-digit.PNG')</a:t>
            </a:r>
            <a:br/>
            <a:r>
              <a:t>input_image = cv2.resize(input_image, (28, 28))</a:t>
            </a:r>
            <a:br/>
            <a:r>
              <a:t>input_image = cv2.cvtColor(input_image, cv2.COLOR_BGR2GRAY)</a:t>
            </a:r>
            <a:br/>
            <a:r>
              <a:t>input_image = input_image / 255</a:t>
            </a:r>
            <a:br/>
            <a:r>
              <a:t>input_image = np.reshape(input_image, [1, 28, 28])</a:t>
            </a:r>
            <a:br/>
            <a:br/>
            <a:r>
              <a:t>prediction = model.predict(input_image)</a:t>
            </a:r>
            <a:br/>
            <a:r>
              <a:t>print(np.argmax(prediction))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002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72821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CUSTOM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1168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3-digit.PNG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15468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2983" y="3282696"/>
            <a:ext cx="24505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PREDICTED DIGIT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2983" y="3566160"/>
            <a:ext cx="24505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8920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A5BD7"/>
                </a:solidFill>
                <a:latin typeface="Aptos"/>
              </a:defRPr>
            </a:pPr>
            <a:r>
              <a:t>Resize → Grayscale → Normalize → model.predict()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End-to-end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Project workflow based on the executed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MNIST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42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/255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542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3" y="2542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10 epochs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136" y="2542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97.1%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542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1828800"/>
            <a:ext cx="15727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05288" y="1993392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A5BD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7856" y="2423160"/>
            <a:ext cx="13533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234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6" y="3090672"/>
            <a:ext cx="13533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707886"/>
                </a:solidFill>
                <a:latin typeface="Aptos"/>
              </a:defRPr>
            </a:pPr>
            <a:r>
              <a:t>3-digit.PNG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70916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2234"/>
                </a:solidFill>
                <a:latin typeface="Aptos"/>
              </a:defRPr>
            </a:pPr>
            <a:r>
              <a:t>Load → Normalize → Model → Train → Evaluate → Predict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8223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149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707886"/>
                </a:solidFill>
                <a:latin typeface="Aptos"/>
              </a:defRPr>
            </a:pPr>
            <a:r>
              <a:t>Summary based on the executed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>
                <a:solidFill>
                  <a:srgbClr val="2A5BD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10927080" cy="16459"/>
          </a:xfrm>
          <a:prstGeom prst="rect">
            <a:avLst/>
          </a:prstGeom>
          <a:solidFill>
            <a:srgbClr val="DC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707886"/>
                </a:solidFill>
                <a:latin typeface="Aptos"/>
              </a:defRPr>
            </a:pPr>
            <a:r>
              <a:t>MNIST Digit Classification  |  Actual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A complete Neural Network workflow for handwritten digit recognition was implemented.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Recorded training accuracy: 98.9%.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Recorded test accuracy: 97.1%.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Confusion matrix was used for class-wise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434C5B"/>
                </a:solidFill>
              </a:defRPr>
            </a:pPr>
            <a:r>
              <a:t>• Custom handwritten image prediction was demonstrated using 3-digit.PNG.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8288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87384" y="1956816"/>
            <a:ext cx="20391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2240280"/>
            <a:ext cx="20391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98.9%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33756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7384" y="3465576"/>
            <a:ext cx="20391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50" b="1">
                <a:solidFill>
                  <a:srgbClr val="707886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7384" y="3749039"/>
            <a:ext cx="20391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2A5BD7"/>
                </a:solidFill>
                <a:latin typeface="Aptos"/>
              </a:defRPr>
            </a:pPr>
            <a:r>
              <a:t>97.1%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182234"/>
                </a:solidFill>
                <a:latin typeface="Aptos"/>
              </a:defRPr>
            </a:pPr>
            <a:r>
              <a:t>Thank You  •  Priyanka Gunjal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